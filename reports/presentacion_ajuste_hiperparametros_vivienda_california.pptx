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ODYSSEUS AI PLATFORM • PREDICTIVE MLOPS FRAMEWORK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California Housing: Benchmarking Multialgorítmico,</a:t>
            </a:r>
            <a:br/>
            <a:r>
              <a:t>Optimización Bayesiana &amp; MLOps Productivo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Diagnóstico Little MCAR (1988), Tuning Dual (Optuna &amp; BayesSearchCV), Conformal Prediction CQR (95% Cobertura) y Microservicio REST FastAPI</a:t>
            </a:r>
          </a:p>
          <a:p>
            <a:pPr>
              <a:spcBef>
                <a:spcPts val="3000"/>
              </a:spcBef>
              <a:defRPr sz="1400" b="1">
                <a:solidFill>
                  <a:srgbClr val="10B981"/>
                </a:solidFill>
              </a:defRPr>
            </a:pPr>
            <a:r>
              <a:t>Lead Architect: Guillén Concepción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Senior Data Scientist &amp; MLOps Engineer</a:t>
            </a:r>
            <a:br/>
            <a:r>
              <a:t>LinkedIn: linkedin.com/in/guillen-concepcion-25266b127  |  GitHub: github.com/GuillenConcepcion  |  guillenconcepcion@gmail.com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ARQUITECTURA &amp; ECOSYSTEM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Stack de Tecnología MLOps &amp; Arquitectura de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💻 Core &amp; Runtime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Python 3.13.5 (tags/v3.13.5 64-bit)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uv 0.10.2: Gestor ultrarrápido de paquetes en Rust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NumPy 2.x: Computación tensorial vectorizada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Pandas 2.x / 3.x: Engine con Copy-on-Write (CoW)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Cookiecutter &amp; Jinja2: Blueprints reproducibles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🧠 Machine Learning &amp; Tuning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Scikit-Learn 1.6+: Estimadores y pipelines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XGBoost 3.2.0: Hist-based gradient boosting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Optuna 4.x: Bayesian TPE con poda asíncrona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Scikit-Optimize (skopt 0.10.2): BayesSearchCV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Conformal Prediction: Quantile regression CQR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🚀 Inferencia &amp; Serving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FastAPI 0.115+: Microservicio asíncrono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Pydantic V2: Contratos de datos tipados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Uvicorn: ASGI web server de alta concurrencia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TestClient &amp; Pytest: Suite de pruebas unitarias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Latencia ultra baja: &lt; 8ms por inferencia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📊 Visualización &amp; Storytelling Interactivo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Plotly 7.1.0: Gráficos interactivos y px.scatter_map (MapLibre con open-street-map)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Marimo 0.11+: Cuadernos reactivos reproducibles orientados a grafos dirigidos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James Gibbins (visualising-trees): Conversión de árboles a grafos con NetworkX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Seaborn &amp; Matplotlib: Reportes estáticos y figuras ejecutivas en alta resolución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1208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🐳 MLOps, Contenedores &amp; Monitoreo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Podman / Docker: Contenedores multi-stage optimizados (~180 MB imagen final)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MLflow Tracking: Registro de experimentos, artefactos y modelos campeones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Auditoría de Data Drift: Population Stability Index (PSI) adaptativo y KS 2-Sample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Continuous Training (CT): Bloqueo atómico y enfriamiento para auto-promoción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 1: BUSINESS PROBLEM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Pregunta de Negocio y Desafíos Econométricos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🎯 Objetivo Estratégico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Predecir el valor mediano de la vivienda (median_house_value) por distrito censal en California.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Estimar riesgos de tasación y carteras de activos inmobiliarios con márgenes garantizados.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Métrica North Star: Maximizar R² fuera de muestra y minimizar el error absoluto medio (MAE).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Asegurar interpretabilidad local y global para cumplimiento regulatorio (XAI con SHAP).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🗺️ Desafíos del Dataset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20.640 distritos censales y 10 variables canónicas (económicas, demográficas y geoespaciales).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No-linealidades complejas: el ingreso medio (median_income) explica &gt; 45% de la varianza.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Efectos geográficos combinados: interacción no lineal entre latitud, longitud y costa (ocean_proximity).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Distribución asimétrica con techo censal artificial en $500,001 (outliers de saturación).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29184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🛡️ Principios MLOps Odysseus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Zero Data Leakage: Toda transformación estadística se aprende exclusivamente sobre X_train.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Compatibilidad Copy-on-Write: Cero mutaciones inplace=True propensas a errores silenciosos.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Tratamiento de Clases Raras: Categorías extremas (ISLAND, n=5) blindadas con dummies estables.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Incertidumbre Libre de Distribución: Bandas conformes CQR sin supuestos gaussianos simétricos.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ETAPAS 3 Y 4: DATA QUALITY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Diagnóstico de Ausencia (Little MCAR) &amp; Preprocesamiento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🔬 Test de Little MCAR (Little, JASA 1988)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Formulación Matemática de Hipótesis: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H0: Los datos faltantes son Missing Completely at Random (MCAR).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H1: El mecanismo de ausencia es MAR o MNAR.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Estadístico de Mahalanobis Multivariado (d²):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d² = Σ N_s (y_obs,s - μ_s)^T Σ_s^(-1) (y_obs,s - μ_s)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Evaluación en California Housing: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total_bedrooms presentaba 207 valores nulos (~1.0%).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El test de Little arrojó p-valor = 1.0 &gt; 0.05 (H0 aceptada).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Conclusión: El mecanismo es puramente MCAR.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Se garantiza que la imputación condicional en entrenamiento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preserva la insesgadez sin distorsionar la covarianza global.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🛠️ Pipeline de Ingeniería DataPreprocessing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Tratamiento Vectorial de Outliers: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Winsorización con rango intercuartílico: clip(q1 - 1.5*IQR, q3 + 1.5*IQR).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Ingeniería de Características Causales: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population_per_room = population / total_rooms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bedroom_share = (total_bedrooms / total_rooms) * 100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diag_coord = longitude + latitude (eje de costa pacífica)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One-Hot Encoding Determinista: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Generación de dummies con .reindex() para blindar las 5 categorías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(&lt;1H OCEAN, INLAND, ISLAND, NEAR BAY, NEAR OCEAN).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Zero-Leakage Riguroso: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preprocessing.fit(X_train) asegura independencia de test.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Auditoría post-procesamiento: 0 NaNs en Train y 0 NaNs en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 6: MODEL BENCHMARKING (VISUAL)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Benchmarking Multialgorítmico: Comparativa en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pic>
        <p:nvPicPr>
          <p:cNvPr id="4" name="Picture 3" descr="benchmark_multialgoritmico_destac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257800"/>
            <a:ext cx="10728655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💡 Hallazgos del Benchmarking Multialgorítmico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Los modelos lineales (OLS, Ridge, Lasso) tocan techo en R² ≈ 0.607 debido a las no-linealidades geoespaciales y económicas.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El árbol sin regularizar sobreajusta severamente (R² Train = 1.0 vs Test = 0.612). Al regularizarlo con BayesSearchCV salta a R² = 0.715 (+16.8%).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XGBoost Optimizado con Optuna se corona como Modelo Campeón 🏆 con R² = 0.8397 y MAE = $30.85k, superando por +38.4% a los modelos lineales.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257800"/>
            <a:ext cx="10728655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 6: DETAILED METRICS TABLE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Benchmarking Multialgorítmico: Análisis Cuantitativo Detallado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📊 Métricas Oficiales sobre Test Set (Holdout 30%, N=6.192)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Linear Regression (OLS):  R² = 0.6066 | MAE = $49.81k | RMSE = $69.74k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Ridge Regression (L2):     R² = 0.6066 | MAE = $49.80k | RMSE = $69.74k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Lasso Regression (L1):     R² = 0.6066 | MAE = $49.82k | RMSE = $69.75k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ElasticNet (L1 + L2):       R² = 0.5826 | MAE = $52.10k | RMSE = $71.83k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DecisionTree (Default):    R² = 0.6124 | MAE = $45.20k | RMSE = $71.02k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DecisionTree (skopt Tuned): R² = 0.7145 | MAE = $39.80k | RMSE = $59.60k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Random Forest Regressor:   R² = 0.8152 | MAE = $32.80k | RMSE = $47.80k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Gradient Boosting Clásico: R² = 0.7957 | MAE = $34.70k | RMSE = $50.30k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XGBoost (Optuna Tuned) 🏆: R² = 0.8397 | MAE = $30.85k | RMSE = $44.62k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--------------------------------------------------------------------------------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Impacto: Reducción del error monetario absoluto en $18,960 USD por vivienda.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85800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⚖️ Diagnóstico Sesgo-Varianza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Modelos Lineales: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Alto Sesgo (Underfitting).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Incapaces de modelar el valor de la costa sin términos polinómicos manuales.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Árbol No Regularizado: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Alta Varianza (Overfitting salvaje).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Profundidad libre (depth ≈ 35) memoriza ruido.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Árbol Podado (ccp_alpha):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Poda de complejidad restaura generalización.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Ensambles Boosting: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Mínimo Sesgo y Mínima Varianza.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Splits por histogramas con regularización L1/L2 simultánea.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371600"/>
            <a:ext cx="356616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 6: BAYESIAN TUNING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Optimización Bayesiana Dual: Optuna (XGBoost) vs BayesSearchCV (DT)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⚡ XGBoost con Optuna (TPE Sampler)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Aceleración de Algoritmo: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Algoritmo de histogramas vectorizado: tree_method='hist'.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Espacio de Búsqueda de 10 Hiperparámetros: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reg_lambda, reg_alpha: Muestreo log-uniforme [1.0, 20.0].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learning_rate: [0.01, 0.20] (escala logarítmica).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max_depth: [3, 9] | subsample: [0.5, 1.0].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colsample_bytree &amp; colsample_bynode: [0.4, 1.0].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Mecanismo de Poda Temprana: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Partición interna X_trainval / X_valid.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early_stopping_rounds = 15 para abortar trials ineficientes.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Resultado: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R² Validación = 0.8397 en 35 trials (&lt; 2.5 min de CPU).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🌲 DecisionTree con BayesSearchCV (skopt)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Resolución de Cuellos de Botella Matemáticos: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1. Complejidad O(N²): Se eliminó el criterio absolute_error;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 se optó por squared_error y poisson (O(N log N)).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2. Poda de Costo-Complejidad Condicionada: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 ccp_alpha muestreado en escala log-uniforme Real(1e-5, 0.02)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 en lugar de uniforme [0, 1] que colapsaba el árbol.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3. Regularización de Hojas y Splits: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 min_samples_split: (5, 80) | min_samples_leaf: (2, 50).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Resultado: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De R² = 0.612 a R² = 0.715 (+16.8% de ganancia de generalización).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Tiempo de convergencia reducido de horas a 28 segundos.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 7: ADVANCED VISUALIZATION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Visualización de Grafos de Decisión &amp; Cartografía Espacial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🌳 Grafos de Árboles (Framework James Gibbins)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Integración de external/visualising_trees: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Mapeo estructural de árboles de Scikit-Learn a NetworkX.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Renderizado interactivo de nodos y splits con Plotly.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Capacidad Explicativa Visual: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Nodos coloreados dinámicamente según el valor predicho.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Grosor de aristas proporcional a las muestras canalizadas.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Detección inmediata de las reglas maestras de partición: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(median_income &lt;= 5.12, latitude &lt;= 34.25).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Cuadernos Reactivos: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Despliegue interactivo con Marimo y exportación a Jupyter.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🗺️ Cartografía Geoespacial con Plotly 7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Migración Moderna de Librería: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Actualización de px.scatter_mapbox (retirado) a px.scatter_map.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Mosaicos de alta resolución abiertos: map_style='open-street-map'.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Patrones Espaciales Evidenciados: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Clústeres de Alta Valuación: San Francisco Bay Area y Los Ángeles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costero concentran las valoraciones pico (&gt; $450k USD).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Depresión del Valle Central: Distritos con ingresos similares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cotizan hasta un 60% por debajo debido al aislamiento costero.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La variable NEAR OCEAN añade una prima marginal estadísticamente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robusta en todos los modelos multivariados.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 8: UNCERTAINTY QUANTIFICATION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Cuantificación de Incertidumbre: Conformal Prediction (CQR)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pic>
        <p:nvPicPr>
          <p:cNvPr id="4" name="Picture 3" descr="cqr_interval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280160"/>
            <a:ext cx="4114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📐 Fundamento CQR (Romano et al. 2019)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Por qué falla la normalidad estándar (ŷ ± 1.96σ):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Asimetría, valores no negativos y heterocedasticidad local.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Formulación Conformalized Quantile Regression: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1. Modelos cuantílicos para q_lo (α/2) y q_hi (1 - α/2).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2. Scores de no-conformidad en Holdout de calibración: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 E_i = max(q_lo(x_i) - y_i, y_i - q_hi(x_i))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3. Corrección conforme de muestra finita: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  Q_conf = Quantile(E, ceil((N+1)(1-α))/N)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Resultados en Producción: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Garantía Teórica Marginal: 95.0%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Cobertura Empírica Medida: 95.45%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Score de corrección: Q_conf = 0.0854 ($8,540 USD)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280160"/>
            <a:ext cx="411480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640080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🛡️ Toma de Decisiones en Entornos Críticos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Las tasaciones inmobiliarias entregan una predicción puntual acompañada de un intervalo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formalmente calibrado [límite inferior, límite superior] con garantía matemática del 95%.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Distritos atípicos o volátiles ensanchan la banda de forma adaptativa y transparente.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640080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ETAPAS 9 Y 10: PRODUCTION MLOPS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MLOps y Despliegue en Producción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⚡ Microservicio de Inferencia (FastAPI)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Endpoints REST Documentados (Swagger / OpenAPI):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GET /health : Verificación de liveness y versión del modelo.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POST /predict : Inferencia en tiempo real con bandas CQR.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GET /metrics : Telemetría para Prometheus y observabilidad.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Validación de Esquema con Pydantic V2: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Contratos estrictos de tipos para las 8 variables predictoras.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Respuesta con predicción puntual, intervalo 95% y cobertura.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Latencia y Calidad de Código: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Latencia media &lt; 8 ms por inferencia.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Pruebas de integración automatizadas con TestClient.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🛡️ Monitoreo de Data Drift (PSI &amp; KS-Test)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Population Stability Index (PSI):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Mide el corrimiento distributivo entre Baseline y Producción.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PSI &lt; 0.10 : Operación estable.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0.10 &lt;= PSI &lt; 0.25 : Alerta preventiva en consola de logs.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PSI &gt;= 0.25 : Disparo de reentrenamiento continuo (CT).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Kolmogorov-Smirnov Test (KS 2-Sample):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Detección de drift continuo en MedInc y AveOccup.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Contenerización Cloud-Native: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Imagen multi-stage optimizada en Podman / Docker (~180 MB).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Servidor central de tracking con MLflow integrado.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28016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CONCLUSIÓN EJECUTIVA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Conclusiones, Retorno de Inversión y Credenciales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Lead Architect: Guillén Concepción (Senior Data Scientist &amp; MLOps Engineer) • Odysseus MLOps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📈 Retorno de Inversión (ROI) y Valor Técnico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1. Excelencia Estadística y Cero Fuga: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Diagnóstico formal con Little's MCAR Test y pipeline Zero-Leakage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aseguran modelos sin sesgo y reproducibilidad integral.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2. Rendimiento Algorítmico Superior: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XGBoost optimizado logra R² = 0.840 en Test y MAE = $30.85k,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reduciendo el error de tasación en un 38% vs modelos lineales.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3. Gestión del Riesgo Financiero: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Conformal Prediction (CQR) aporta intervalos al 95% auditables.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4. Arquitectura de Producción Robusta: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API en FastAPI, contenedorización con Podman y monitoreo continuo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 de Data Drift con Population Stability Index (PSI).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👨‍💻 Perfil Profesional y Contacto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Lead Architect: Guillén Concepción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Rol: Senior Data Scientist &amp; MLOps Engineer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Especialidad Profesional: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Arquitecturas Cloud-Native y Plataformas MLOps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Ciclo de Vida Completo de Machine Learning (CRISP-DM)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Modelado Tabular Complejo, XAI (SHAP) y Conformal Prediction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Datos de Contacto: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LinkedIn: linkedin.com/in/guillen-concepcion-25266b127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GitHub: github.com/GuillenConcepcion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  • Email: guillenconcepcion@gmail.com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 Ecosistema: Odysseus AI Platform &amp; Predictive MLOps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